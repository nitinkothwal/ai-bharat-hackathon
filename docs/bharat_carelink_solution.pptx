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495" y="0"/>
            <a:ext cx="73152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63402" y="0"/>
            <a:ext cx="1429207" cy="142920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0" r="0" t="0" b="0"/>
          <a:stretch/>
        </p:blipFill>
        <p:spPr>
          <a:xfrm>
            <a:off x="8858707" y="3524098"/>
            <a:ext cx="3810305" cy="3810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4876495" cy="6858000"/>
          </a:xfrm>
          <a:prstGeom prst="rect">
            <a:avLst/>
          </a:prstGeom>
          <a:solidFill>
            <a:srgbClr val="0069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71500" y="1143000"/>
            <a:ext cx="3883457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Bharat</a:t>
            </a:r>
            <a:pPr algn="l" indent="0" marL="0">
              <a:buNone/>
            </a:pPr>
            <a:endParaRPr lang="en-US" sz="4500" dirty="0"/>
          </a:p>
          <a:p>
            <a:pPr algn="l" indent="0" marL="0">
              <a:buNone/>
            </a:pPr>
            <a:r>
              <a:rPr lang="en-US" sz="4500" b="1" dirty="0">
                <a:solidFill>
                  <a:srgbClr val="99F6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CareLink</a:t>
            </a:r>
            <a:endParaRPr lang="en-US" sz="4500" dirty="0"/>
          </a:p>
        </p:txBody>
      </p:sp>
      <p:sp>
        <p:nvSpPr>
          <p:cNvPr id="8" name="Shape 4"/>
          <p:cNvSpPr/>
          <p:nvPr/>
        </p:nvSpPr>
        <p:spPr>
          <a:xfrm>
            <a:off x="571500" y="2723998"/>
            <a:ext cx="38405" cy="267005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2610" y="2723998"/>
            <a:ext cx="421721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Rural Healthcare Referral System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1500" y="4438498"/>
            <a:ext cx="3733495" cy="1848002"/>
          </a:xfrm>
          <a:prstGeom prst="roundRect">
            <a:avLst>
              <a:gd name="adj" fmla="val 2040"/>
            </a:avLst>
          </a:prstGeom>
          <a:solidFill>
            <a:srgbClr val="115E59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09244" y="4677156"/>
            <a:ext cx="3372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99F6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809244" y="5020056"/>
            <a:ext cx="3372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Name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809244" y="5210251"/>
            <a:ext cx="3372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[Insert Your Team Name]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" y="5591556"/>
            <a:ext cx="3372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Leader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" y="5781751"/>
            <a:ext cx="3372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[Insert Your Name]</a:t>
            </a:r>
            <a:endParaRPr lang="en-US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l="0" r="0" t="-9186" b="-9186"/>
          <a:stretch/>
        </p:blipFill>
        <p:spPr>
          <a:xfrm>
            <a:off x="571500" y="571500"/>
            <a:ext cx="362102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47902" y="571500"/>
            <a:ext cx="33211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AI for Bharat Hackathon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639105" y="1404518"/>
            <a:ext cx="457200" cy="4572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0192" b="-20192"/>
          <a:stretch/>
        </p:blipFill>
        <p:spPr>
          <a:xfrm>
            <a:off x="5772607" y="1500530"/>
            <a:ext cx="190195" cy="2670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48095" y="1462126"/>
            <a:ext cx="2019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5639105" y="2090318"/>
            <a:ext cx="5877763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rural India, </a:t>
            </a:r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ASHA workers</a:t>
            </a:r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identify high-risk patients, but referrals to Primary Health Centres (PHCs) are manual, paper-based, and fragmented. </a:t>
            </a:r>
            <a:endParaRPr lang="en-US" sz="18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3" b="-3"/>
          <a:stretch/>
        </p:blipFill>
        <p:spPr>
          <a:xfrm>
            <a:off x="5639105" y="3433572"/>
            <a:ext cx="5790895" cy="12573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905195" y="3662172"/>
            <a:ext cx="5372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"This leads to a lack of structured data, no medical prioritization, and a total lack of real-time visibility for supervisors, resulting in </a:t>
            </a:r>
            <a:pPr algn="l" indent="0" marL="0">
              <a:buNone/>
            </a:pPr>
            <a:r>
              <a:rPr lang="en-US" sz="1300" b="1" i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care for life-threatening conditions</a:t>
            </a:r>
            <a:pPr algn="l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." 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6659" b="-16659"/>
          <a:stretch/>
        </p:blipFill>
        <p:spPr>
          <a:xfrm>
            <a:off x="5639105" y="5148072"/>
            <a:ext cx="256946" cy="3044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010351" y="5148072"/>
            <a:ext cx="886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Paper-based</a:t>
            </a:r>
            <a:endParaRPr lang="en-US" sz="10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6524" b="-16524"/>
          <a:stretch/>
        </p:blipFill>
        <p:spPr>
          <a:xfrm>
            <a:off x="7136892" y="5148072"/>
            <a:ext cx="200254" cy="30449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451446" y="5148072"/>
            <a:ext cx="9144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Care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6494" b="-16494"/>
          <a:stretch/>
        </p:blipFill>
        <p:spPr>
          <a:xfrm>
            <a:off x="8609076" y="5148072"/>
            <a:ext cx="286207" cy="30449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009583" y="5148072"/>
            <a:ext cx="8193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Visibility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9570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42803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Brief about the Idea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38505"/>
            <a:ext cx="388254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Digitizing the Rural Referral Lifecycle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0" r="0" t="0" b="0"/>
          <a:stretch/>
        </p:blipFill>
        <p:spPr>
          <a:xfrm>
            <a:off x="10218420" y="666598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447020" y="629107"/>
            <a:ext cx="1406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 CareLink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2358238"/>
            <a:ext cx="4886554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Bharat CareLink is a </a:t>
            </a:r>
            <a:pPr algn="l" indent="0" marL="0">
              <a:buNone/>
            </a:pPr>
            <a:r>
              <a:rPr lang="en-US" sz="1800" b="1" dirty="0">
                <a:solidFill>
                  <a:srgbClr val="0069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cloud-native, AI-driven platform</a:t>
            </a:r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revolutionizes how rural healthcare referrals are managed. 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71500" y="3701491"/>
            <a:ext cx="38405" cy="838505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2610" y="3701491"/>
            <a:ext cx="4686300" cy="8385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replaces fragmented paper trails with a digital ecosystem that prioritizes care for those who need it most.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" y="4689958"/>
            <a:ext cx="4877410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integrating advanced AWS AI services, we enable real-time risk assessment and ensuring the </a:t>
            </a:r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highest-risk patients are treated first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Primary Health Centres (PHCs). 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53405" y="1686154"/>
            <a:ext cx="2838298" cy="2305202"/>
          </a:xfrm>
          <a:prstGeom prst="roundRect">
            <a:avLst>
              <a:gd name="adj" fmla="val 1967"/>
            </a:avLst>
          </a:prstGeom>
          <a:solidFill>
            <a:srgbClr val="F1F5F9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91149" y="1923898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369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0193" b="-20193"/>
          <a:stretch/>
        </p:blipFill>
        <p:spPr>
          <a:xfrm>
            <a:off x="6148426" y="2018995"/>
            <a:ext cx="142646" cy="2670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991149" y="2572207"/>
            <a:ext cx="24569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Voice-to-Form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991149" y="2952598"/>
            <a:ext cx="24387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</a:t>
            </a:r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Transcribe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multi-lingual data entry, overcoming literacy barriers for ASHA workers.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781898" y="1686154"/>
            <a:ext cx="2838298" cy="2305202"/>
          </a:xfrm>
          <a:prstGeom prst="roundRect">
            <a:avLst>
              <a:gd name="adj" fmla="val 1967"/>
            </a:avLst>
          </a:prstGeom>
          <a:solidFill>
            <a:srgbClr val="F1F5F9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020556" y="1923898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4338C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0192" b="-20192"/>
          <a:stretch/>
        </p:blipFill>
        <p:spPr>
          <a:xfrm>
            <a:off x="9153144" y="2018995"/>
            <a:ext cx="190195" cy="2670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20556" y="2572207"/>
            <a:ext cx="24569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Risk Scoring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9020556" y="2952598"/>
            <a:ext cx="24387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Leverages </a:t>
            </a:r>
            <a:pPr algn="l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SageMaker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classify patients as LOW, MEDIUM, or HIGH risk instantly.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753405" y="4176979"/>
            <a:ext cx="2838298" cy="2305202"/>
          </a:xfrm>
          <a:prstGeom prst="roundRect">
            <a:avLst>
              <a:gd name="adj" fmla="val 1967"/>
            </a:avLst>
          </a:prstGeom>
          <a:solidFill>
            <a:srgbClr val="F1F5F9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91149" y="441472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069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437" b="-18437"/>
          <a:stretch/>
        </p:blipFill>
        <p:spPr>
          <a:xfrm>
            <a:off x="6110021" y="4509821"/>
            <a:ext cx="219456" cy="2670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991149" y="5062118"/>
            <a:ext cx="24569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Queues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991149" y="5443423"/>
            <a:ext cx="24387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Prioritized dashboards at PHCs ensure critical cases skip the line for immediate attention.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8781898" y="4176979"/>
            <a:ext cx="2838298" cy="2305202"/>
          </a:xfrm>
          <a:prstGeom prst="roundRect">
            <a:avLst>
              <a:gd name="adj" fmla="val 1967"/>
            </a:avLst>
          </a:prstGeom>
          <a:solidFill>
            <a:srgbClr val="F1F5F9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020556" y="441472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C241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0192" b="-20192"/>
          <a:stretch/>
        </p:blipFill>
        <p:spPr>
          <a:xfrm>
            <a:off x="9153144" y="4509821"/>
            <a:ext cx="190195" cy="2670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020556" y="5062118"/>
            <a:ext cx="24569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Trends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020556" y="5443423"/>
            <a:ext cx="24387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Supervisors monitor district-level health data via live dashboards for proactive intervention.</a:t>
            </a:r>
            <a:endParaRPr lang="en-US" sz="10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1740896" y="6467551"/>
            <a:ext cx="247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166421"/>
            <a:ext cx="35981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Explanation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547726"/>
            <a:ext cx="3223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Differentiation, Approach, and USP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-33" r="-33" t="0" b="0"/>
          <a:stretch/>
        </p:blipFill>
        <p:spPr>
          <a:xfrm>
            <a:off x="10199218" y="395021"/>
            <a:ext cx="171907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447020" y="357530"/>
            <a:ext cx="1406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 CareLink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1333195"/>
            <a:ext cx="3419856" cy="5143500"/>
          </a:xfrm>
          <a:prstGeom prst="roundRect">
            <a:avLst>
              <a:gd name="adj" fmla="val 1192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7649" y="16093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7377" y="1742846"/>
            <a:ext cx="237744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7649" y="2257654"/>
            <a:ext cx="2981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8" kern="0" dirty="0">
                <a:solidFill>
                  <a:srgbClr val="0F76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is it different?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000354" y="2581351"/>
            <a:ext cx="2829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Existing Ideas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847649" y="2790749"/>
            <a:ext cx="29434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digital forms create static queues with simple data entry.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l="-133" r="-133" t="0" b="0"/>
          <a:stretch/>
        </p:blipFill>
        <p:spPr>
          <a:xfrm>
            <a:off x="847649" y="2605126"/>
            <a:ext cx="85954" cy="1143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47649" y="3343046"/>
            <a:ext cx="2866644" cy="9144"/>
          </a:xfrm>
          <a:prstGeom prst="rect">
            <a:avLst/>
          </a:prstGeom>
          <a:solidFill>
            <a:srgbClr val="99F6E4"/>
          </a:solidFill>
          <a:ln w="12700">
            <a:solidFill>
              <a:srgbClr val="99F6E4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057046" y="3504895"/>
            <a:ext cx="27724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Bharat CareLink</a:t>
            </a:r>
            <a:endParaRPr lang="en-US" sz="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47649" y="3528670"/>
            <a:ext cx="142646" cy="1143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7649" y="3715207"/>
            <a:ext cx="29818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"AI-First" Platform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47649" y="3952951"/>
            <a:ext cx="29434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automated medical triage rather than just digitizing paper.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216298" y="1333195"/>
            <a:ext cx="3419856" cy="5143500"/>
          </a:xfrm>
          <a:prstGeom prst="roundRect">
            <a:avLst>
              <a:gd name="adj" fmla="val 1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493362" y="16093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25950" y="1742846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493362" y="2257654"/>
            <a:ext cx="2981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8" kern="0" dirty="0">
                <a:solidFill>
                  <a:srgbClr val="3341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solves the problem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493362" y="2638044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4550054" y="2714854"/>
            <a:ext cx="190195" cy="1527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912157" y="2638044"/>
            <a:ext cx="25466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Offline-First Sync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4912157" y="2866644"/>
            <a:ext cx="25246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manual delays even in low-connectivity areas.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493362" y="3467405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4578401" y="3543300"/>
            <a:ext cx="133502" cy="15270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912157" y="3467405"/>
            <a:ext cx="25466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SLA Monitoring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4912157" y="3696005"/>
            <a:ext cx="25246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follow-up tracking so no patient is left behind.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4493362" y="4295851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-33" r="-33" t="0" b="0"/>
          <a:stretch/>
        </p:blipFill>
        <p:spPr>
          <a:xfrm>
            <a:off x="4559198" y="4371746"/>
            <a:ext cx="171907" cy="15270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4912157" y="4295851"/>
            <a:ext cx="25466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Summaries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4912157" y="4524451"/>
            <a:ext cx="25246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Distills complex records into actionable summaries for doctors.</a:t>
            </a:r>
            <a:endParaRPr lang="en-US" sz="9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" b="-4"/>
          <a:stretch/>
        </p:blipFill>
        <p:spPr>
          <a:xfrm>
            <a:off x="7862011" y="1333195"/>
            <a:ext cx="3758184" cy="5143500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8129016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-1282" r="-1282" t="0" b="0"/>
          <a:stretch/>
        </p:blipFill>
        <p:spPr>
          <a:xfrm>
            <a:off x="8247888" y="1733702"/>
            <a:ext cx="219456" cy="190195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8129016" y="2247595"/>
            <a:ext cx="3343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8" kern="0" dirty="0">
                <a:solidFill>
                  <a:srgbClr val="CCFB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USPs</a:t>
            </a:r>
            <a:endParaRPr lang="en-US" sz="1200" dirty="0"/>
          </a:p>
        </p:txBody>
      </p:sp>
      <p:sp>
        <p:nvSpPr>
          <p:cNvPr id="41" name="Shape 29"/>
          <p:cNvSpPr/>
          <p:nvPr/>
        </p:nvSpPr>
        <p:spPr>
          <a:xfrm>
            <a:off x="8129016" y="2553005"/>
            <a:ext cx="3228746" cy="761695"/>
          </a:xfrm>
          <a:prstGeom prst="roundRect">
            <a:avLst>
              <a:gd name="adj" fmla="val 1200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rcRect l="-33" r="-33" t="0" b="0"/>
          <a:stretch/>
        </p:blipFill>
        <p:spPr>
          <a:xfrm>
            <a:off x="8243316" y="2743200"/>
            <a:ext cx="171907" cy="152705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8547811" y="2667305"/>
            <a:ext cx="28035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Triage</a:t>
            </a:r>
            <a:endParaRPr lang="en-US" sz="1000" dirty="0"/>
          </a:p>
        </p:txBody>
      </p:sp>
      <p:sp>
        <p:nvSpPr>
          <p:cNvPr id="44" name="Text 31"/>
          <p:cNvSpPr txBox="1"/>
          <p:nvPr/>
        </p:nvSpPr>
        <p:spPr>
          <a:xfrm>
            <a:off x="8547811" y="2895905"/>
            <a:ext cx="27724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FBF1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ML-driven risk scores (0.00–1.00) that rank patients by medical urgency.</a:t>
            </a:r>
            <a:endParaRPr lang="en-US" sz="900" dirty="0"/>
          </a:p>
        </p:txBody>
      </p:sp>
      <p:sp>
        <p:nvSpPr>
          <p:cNvPr id="45" name="Shape 32"/>
          <p:cNvSpPr/>
          <p:nvPr/>
        </p:nvSpPr>
        <p:spPr>
          <a:xfrm>
            <a:off x="8129016" y="3504895"/>
            <a:ext cx="3228746" cy="761695"/>
          </a:xfrm>
          <a:prstGeom prst="roundRect">
            <a:avLst>
              <a:gd name="adj" fmla="val 1200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00" b="-100"/>
          <a:stretch/>
        </p:blipFill>
        <p:spPr>
          <a:xfrm>
            <a:off x="8243316" y="3696005"/>
            <a:ext cx="114300" cy="152705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8490204" y="3619195"/>
            <a:ext cx="2862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Voice-to-Form</a:t>
            </a:r>
            <a:endParaRPr lang="en-US" sz="1000" dirty="0"/>
          </a:p>
        </p:txBody>
      </p:sp>
      <p:sp>
        <p:nvSpPr>
          <p:cNvPr id="48" name="Text 34"/>
          <p:cNvSpPr txBox="1"/>
          <p:nvPr/>
        </p:nvSpPr>
        <p:spPr>
          <a:xfrm>
            <a:off x="8490204" y="3847795"/>
            <a:ext cx="28291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FBF1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Multi-lingual voice transcription reduces ASHA worker burnout.</a:t>
            </a:r>
            <a:endParaRPr lang="en-US" sz="900" dirty="0"/>
          </a:p>
        </p:txBody>
      </p:sp>
      <p:sp>
        <p:nvSpPr>
          <p:cNvPr id="49" name="Shape 35"/>
          <p:cNvSpPr/>
          <p:nvPr/>
        </p:nvSpPr>
        <p:spPr>
          <a:xfrm>
            <a:off x="8129016" y="4457700"/>
            <a:ext cx="3228746" cy="761695"/>
          </a:xfrm>
          <a:prstGeom prst="roundRect">
            <a:avLst>
              <a:gd name="adj" fmla="val 1200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3" b="-43"/>
          <a:stretch/>
        </p:blipFill>
        <p:spPr>
          <a:xfrm>
            <a:off x="8243316" y="4647895"/>
            <a:ext cx="133502" cy="152705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8509406" y="4572000"/>
            <a:ext cx="2843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Summarization</a:t>
            </a:r>
            <a:endParaRPr lang="en-US" sz="1000" dirty="0"/>
          </a:p>
        </p:txBody>
      </p:sp>
      <p:sp>
        <p:nvSpPr>
          <p:cNvPr id="52" name="Text 37"/>
          <p:cNvSpPr txBox="1"/>
          <p:nvPr/>
        </p:nvSpPr>
        <p:spPr>
          <a:xfrm>
            <a:off x="8509406" y="4800600"/>
            <a:ext cx="28099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FBF1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Instantly generates clinical case summaries using Amazon Bedrock.</a:t>
            </a:r>
            <a:endParaRPr lang="en-US" sz="900" dirty="0"/>
          </a:p>
        </p:txBody>
      </p:sp>
      <p:sp>
        <p:nvSpPr>
          <p:cNvPr id="53" name="Text 38"/>
          <p:cNvSpPr txBox="1"/>
          <p:nvPr/>
        </p:nvSpPr>
        <p:spPr>
          <a:xfrm>
            <a:off x="11720779" y="6476695"/>
            <a:ext cx="247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-7" b="-7"/>
          <a:stretch/>
        </p:blipFill>
        <p:spPr>
          <a:xfrm>
            <a:off x="7905902" y="3524098"/>
            <a:ext cx="4762195" cy="381030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35410" y="6467551"/>
            <a:ext cx="247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71500" y="174650"/>
            <a:ext cx="2377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571500" y="555041"/>
            <a:ext cx="27203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Capabilities of Bharat CareLink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rcRect l="0" r="0" t="0" b="0"/>
          <a:stretch/>
        </p:blipFill>
        <p:spPr>
          <a:xfrm>
            <a:off x="10218420" y="395021"/>
            <a:ext cx="15270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447020" y="357530"/>
            <a:ext cx="1406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 CareLink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71500" y="1333195"/>
            <a:ext cx="54105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09244" y="157185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990295" y="1723644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33449" y="1571854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Voice Intake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533449" y="1800454"/>
            <a:ext cx="4286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patient intake with validation and multi-lingual voice support via Amazon Transcribe.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210605" y="1333195"/>
            <a:ext cx="54105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48349" y="157185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01054" y="1723644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172554" y="1571854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Risk Scoring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7172554" y="1800454"/>
            <a:ext cx="4286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ML prediction for Pregnancy, Malnutrition, and TB using Amazon SageMaker models.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71500" y="3124505"/>
            <a:ext cx="54105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809244" y="3362249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5" b="-45"/>
          <a:stretch/>
        </p:blipFill>
        <p:spPr>
          <a:xfrm>
            <a:off x="947318" y="3514954"/>
            <a:ext cx="256946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533449" y="3362249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PHC Smart Queue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533449" y="3590849"/>
            <a:ext cx="4286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dashboard sorted by medical risk score (High to Low) and time urgency.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210605" y="3124505"/>
            <a:ext cx="54105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448349" y="3362249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A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01054" y="3514954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172554" y="3362249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Closed-Loop Tracking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7172554" y="3590849"/>
            <a:ext cx="4286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monitoring from ASHA submission to final treatment at PHC.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71500" y="4914900"/>
            <a:ext cx="54105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809244" y="515264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-57" r="-57" t="0" b="0"/>
          <a:stretch/>
        </p:blipFill>
        <p:spPr>
          <a:xfrm>
            <a:off x="976579" y="5305349"/>
            <a:ext cx="200254" cy="2286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533449" y="5152644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Alerts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1533449" y="5381244"/>
            <a:ext cx="4286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SMS/Email escalations for missed follow-ups triggered via Amazon SNS.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6210605" y="4914900"/>
            <a:ext cx="54105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6448349" y="515264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-80" r="-80" t="0" b="0"/>
          <a:stretch/>
        </p:blipFill>
        <p:spPr>
          <a:xfrm>
            <a:off x="6572707" y="5305349"/>
            <a:ext cx="286207" cy="2286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7172554" y="5152644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Offline-First Support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7172554" y="5381244"/>
            <a:ext cx="4286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caching and background synchronization for seamless operation in low-connectivity areas.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952805" y="1476756"/>
            <a:ext cx="10287000" cy="384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6001207"/>
            <a:ext cx="4134002" cy="476402"/>
          </a:xfrm>
          <a:prstGeom prst="roundRect">
            <a:avLst>
              <a:gd name="adj" fmla="val 307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6042" b="-26042"/>
          <a:stretch/>
        </p:blipFill>
        <p:spPr>
          <a:xfrm>
            <a:off x="771754" y="6105449"/>
            <a:ext cx="219456" cy="2670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67105" y="6105449"/>
            <a:ext cx="13432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AWS Cloud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536546" y="6200546"/>
            <a:ext cx="75895" cy="75895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688336" y="6152998"/>
            <a:ext cx="9756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Sync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697834" y="6200546"/>
            <a:ext cx="75895" cy="75895"/>
          </a:xfrm>
          <a:prstGeom prst="ellipse">
            <a:avLst/>
          </a:prstGeom>
          <a:solidFill>
            <a:srgbClr val="4F46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849624" y="6152998"/>
            <a:ext cx="7827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Inference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742725" y="6467551"/>
            <a:ext cx="247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71500" y="166421"/>
            <a:ext cx="22192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Flow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547726"/>
            <a:ext cx="25392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Referral Lifecycle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l="0" r="0" t="0" b="0"/>
          <a:stretch/>
        </p:blipFill>
        <p:spPr>
          <a:xfrm>
            <a:off x="10218420" y="395021"/>
            <a:ext cx="152705" cy="1527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447020" y="357530"/>
            <a:ext cx="1406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 CareLink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33095" y="4296766"/>
            <a:ext cx="1981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ASHA Mobile App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33095" y="4571086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patient data via voice &amp; text input.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0354" y="3058668"/>
            <a:ext cx="1047902" cy="1047902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5356" y="3096158"/>
            <a:ext cx="304495" cy="30449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705356" y="3096158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-40" r="-40" t="0" b="0"/>
          <a:stretch/>
        </p:blipFill>
        <p:spPr>
          <a:xfrm>
            <a:off x="1380744" y="3391510"/>
            <a:ext cx="286207" cy="381305"/>
          </a:xfrm>
          <a:prstGeom prst="rect">
            <a:avLst/>
          </a:prstGeom>
        </p:spPr>
      </p:pic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-1923" r="-1923" t="0" b="0"/>
          <a:stretch/>
        </p:blipFill>
        <p:spPr>
          <a:xfrm>
            <a:off x="2924251" y="3905402"/>
            <a:ext cx="123444" cy="190195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2819095" y="4296766"/>
            <a:ext cx="1981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Assessment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2819095" y="4571086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SageMaker calculates risk score based on 23+ features.</a:t>
            </a:r>
            <a:endParaRPr lang="en-US" sz="9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286354" y="3058668"/>
            <a:ext cx="1047902" cy="1047902"/>
          </a:xfrm>
          <a:prstGeom prst="rect">
            <a:avLst/>
          </a:prstGeom>
        </p:spPr>
      </p:pic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1356" y="3096158"/>
            <a:ext cx="304495" cy="304495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991356" y="3096158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619195" y="3391510"/>
            <a:ext cx="381305" cy="381305"/>
          </a:xfrm>
          <a:prstGeom prst="rect">
            <a:avLst/>
          </a:prstGeom>
        </p:spPr>
      </p:pic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rcRect l="-1923" r="-1923" t="0" b="0"/>
          <a:stretch/>
        </p:blipFill>
        <p:spPr>
          <a:xfrm>
            <a:off x="5210251" y="3905402"/>
            <a:ext cx="123444" cy="190195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5105095" y="4296766"/>
            <a:ext cx="1981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Case Summary</a:t>
            </a:r>
            <a:endParaRPr lang="en-US" sz="1200" dirty="0"/>
          </a:p>
        </p:txBody>
      </p:sp>
      <p:sp>
        <p:nvSpPr>
          <p:cNvPr id="36" name="Text 22"/>
          <p:cNvSpPr txBox="1"/>
          <p:nvPr/>
        </p:nvSpPr>
        <p:spPr>
          <a:xfrm>
            <a:off x="5105095" y="4571086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Bedrock generates clinical summary for doctors.</a:t>
            </a:r>
            <a:endParaRPr lang="en-US" sz="90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572354" y="3058668"/>
            <a:ext cx="1047902" cy="1047902"/>
          </a:xfrm>
          <a:prstGeom prst="rect">
            <a:avLst/>
          </a:prstGeom>
        </p:spPr>
      </p:pic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7356" y="3096158"/>
            <a:ext cx="304495" cy="304495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277356" y="3096158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rcRect l="-17" r="-17" t="0" b="0"/>
          <a:stretch/>
        </p:blipFill>
        <p:spPr>
          <a:xfrm>
            <a:off x="5928970" y="3391510"/>
            <a:ext cx="333756" cy="381305"/>
          </a:xfrm>
          <a:prstGeom prst="rect">
            <a:avLst/>
          </a:prstGeom>
        </p:spPr>
      </p:pic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rcRect l="-1923" r="-1923" t="0" b="0"/>
          <a:stretch/>
        </p:blipFill>
        <p:spPr>
          <a:xfrm>
            <a:off x="7496251" y="3905402"/>
            <a:ext cx="123444" cy="190195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7391095" y="4296766"/>
            <a:ext cx="1981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PHC Queue</a:t>
            </a:r>
            <a:endParaRPr lang="en-US" sz="1200" dirty="0"/>
          </a:p>
        </p:txBody>
      </p:sp>
      <p:sp>
        <p:nvSpPr>
          <p:cNvPr id="43" name="Text 25"/>
          <p:cNvSpPr txBox="1"/>
          <p:nvPr/>
        </p:nvSpPr>
        <p:spPr>
          <a:xfrm>
            <a:off x="7391095" y="4571086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Referral appears in prioritized doctor's dashboard.</a:t>
            </a:r>
            <a:endParaRPr lang="en-US" sz="900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7858354" y="3058668"/>
            <a:ext cx="1047902" cy="1047902"/>
          </a:xfrm>
          <a:prstGeom prst="rect">
            <a:avLst/>
          </a:prstGeom>
        </p:spPr>
      </p:pic>
      <p:pic>
        <p:nvPicPr>
          <p:cNvPr id="4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63356" y="3096158"/>
            <a:ext cx="304495" cy="304495"/>
          </a:xfrm>
          <a:prstGeom prst="rect">
            <a:avLst/>
          </a:prstGeom>
        </p:spPr>
      </p:pic>
      <p:sp>
        <p:nvSpPr>
          <p:cNvPr id="46" name="Text 26"/>
          <p:cNvSpPr/>
          <p:nvPr/>
        </p:nvSpPr>
        <p:spPr>
          <a:xfrm>
            <a:off x="8563356" y="3096158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  <p:pic>
        <p:nvPicPr>
          <p:cNvPr id="47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13" b="-13"/>
          <a:stretch/>
        </p:blipFill>
        <p:spPr>
          <a:xfrm>
            <a:off x="8167421" y="3391510"/>
            <a:ext cx="428854" cy="381305"/>
          </a:xfrm>
          <a:prstGeom prst="rect">
            <a:avLst/>
          </a:prstGeom>
        </p:spPr>
      </p:pic>
      <p:pic>
        <p:nvPicPr>
          <p:cNvPr id="48" name="Image 19" descr="preencoded.png">    </p:cNvPr>
          <p:cNvPicPr>
            <a:picLocks noChangeAspect="1"/>
          </p:cNvPicPr>
          <p:nvPr/>
        </p:nvPicPr>
        <p:blipFill>
          <a:blip r:embed="rId20"/>
          <a:srcRect l="-1923" r="-1923" t="0" b="0"/>
          <a:stretch/>
        </p:blipFill>
        <p:spPr>
          <a:xfrm>
            <a:off x="9782251" y="3905402"/>
            <a:ext cx="123444" cy="190195"/>
          </a:xfrm>
          <a:prstGeom prst="rect">
            <a:avLst/>
          </a:prstGeom>
        </p:spPr>
      </p:pic>
      <p:sp>
        <p:nvSpPr>
          <p:cNvPr id="49" name="Text 27"/>
          <p:cNvSpPr txBox="1"/>
          <p:nvPr/>
        </p:nvSpPr>
        <p:spPr>
          <a:xfrm>
            <a:off x="9677095" y="4296766"/>
            <a:ext cx="1981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 Loop</a:t>
            </a:r>
            <a:endParaRPr lang="en-US" sz="1200" dirty="0"/>
          </a:p>
        </p:txBody>
      </p:sp>
      <p:sp>
        <p:nvSpPr>
          <p:cNvPr id="50" name="Text 28"/>
          <p:cNvSpPr txBox="1"/>
          <p:nvPr/>
        </p:nvSpPr>
        <p:spPr>
          <a:xfrm>
            <a:off x="9677095" y="4571086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updates trigger notifications back to ASHA.</a:t>
            </a:r>
            <a:endParaRPr lang="en-US" sz="900" dirty="0"/>
          </a:p>
        </p:txBody>
      </p:sp>
      <p:pic>
        <p:nvPicPr>
          <p:cNvPr id="51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0144354" y="3058668"/>
            <a:ext cx="1047902" cy="1047902"/>
          </a:xfrm>
          <a:prstGeom prst="rect">
            <a:avLst/>
          </a:prstGeom>
        </p:spPr>
      </p:pic>
      <p:pic>
        <p:nvPicPr>
          <p:cNvPr id="5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49356" y="3096158"/>
            <a:ext cx="304495" cy="304495"/>
          </a:xfrm>
          <a:prstGeom prst="rect">
            <a:avLst/>
          </a:prstGeom>
        </p:spPr>
      </p:pic>
      <p:sp>
        <p:nvSpPr>
          <p:cNvPr id="53" name="Text 29"/>
          <p:cNvSpPr/>
          <p:nvPr/>
        </p:nvSpPr>
        <p:spPr>
          <a:xfrm>
            <a:off x="10849356" y="3096158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  <p:pic>
        <p:nvPicPr>
          <p:cNvPr id="54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0477195" y="3391510"/>
            <a:ext cx="381305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39067" y="6467551"/>
            <a:ext cx="247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648102" y="1580998"/>
            <a:ext cx="19202" cy="10479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580998" y="1990649"/>
            <a:ext cx="924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95905" y="1580998"/>
            <a:ext cx="8343900" cy="1047902"/>
          </a:xfrm>
          <a:prstGeom prst="roundRect">
            <a:avLst>
              <a:gd name="adj" fmla="val 95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95905" y="1580998"/>
            <a:ext cx="57607" cy="102870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91256" y="1876349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23844" y="2009851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62756" y="1895551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Native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762756" y="2128723"/>
            <a:ext cx="11567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ASHA Mobile App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258507" y="1876349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1282" r="-1282" t="0" b="0"/>
          <a:stretch/>
        </p:blipFill>
        <p:spPr>
          <a:xfrm>
            <a:off x="7377379" y="2009851"/>
            <a:ext cx="219456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830007" y="1895551"/>
            <a:ext cx="10195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7830007" y="2128723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Dashboard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6038698" y="2628900"/>
            <a:ext cx="114300" cy="15270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648102" y="2781605"/>
            <a:ext cx="19202" cy="10479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644091" y="3191256"/>
            <a:ext cx="857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2895905" y="2781605"/>
            <a:ext cx="8343900" cy="1047902"/>
          </a:xfrm>
          <a:prstGeom prst="roundRect">
            <a:avLst>
              <a:gd name="adj" fmla="val 95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2895905" y="2781605"/>
            <a:ext cx="57607" cy="10287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191256" y="307695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300070" y="3209544"/>
            <a:ext cx="237744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762756" y="30952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3762756" y="3329330"/>
            <a:ext cx="12316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REST APIs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7258507" y="307695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67321" y="3209544"/>
            <a:ext cx="237744" cy="19019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830007" y="3095244"/>
            <a:ext cx="10579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AWS Lambda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7830007" y="3329330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Serverless Logic</a:t>
            </a:r>
            <a:endParaRPr lang="en-US" sz="9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0" b="-100"/>
          <a:stretch/>
        </p:blipFill>
        <p:spPr>
          <a:xfrm>
            <a:off x="6038698" y="3829507"/>
            <a:ext cx="114300" cy="152705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2648102" y="3981298"/>
            <a:ext cx="19202" cy="10479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1465783" y="4390949"/>
            <a:ext cx="11256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Services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2895905" y="3981298"/>
            <a:ext cx="8343900" cy="1047902"/>
          </a:xfrm>
          <a:prstGeom prst="roundRect">
            <a:avLst>
              <a:gd name="adj" fmla="val 95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2895905" y="3981298"/>
            <a:ext cx="57607" cy="102870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3191256" y="4276649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-1282" r="-1282" t="0" b="0"/>
          <a:stretch/>
        </p:blipFill>
        <p:spPr>
          <a:xfrm>
            <a:off x="3310128" y="4410151"/>
            <a:ext cx="219456" cy="19019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3762756" y="4295851"/>
            <a:ext cx="13149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Amazon Bedrock</a:t>
            </a:r>
            <a:endParaRPr lang="en-US" sz="1100" dirty="0"/>
          </a:p>
        </p:txBody>
      </p:sp>
      <p:sp>
        <p:nvSpPr>
          <p:cNvPr id="40" name="Text 30"/>
          <p:cNvSpPr txBox="1"/>
          <p:nvPr/>
        </p:nvSpPr>
        <p:spPr>
          <a:xfrm>
            <a:off x="3762756" y="4529023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Summaries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5902452" y="4276649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035954" y="4410151"/>
            <a:ext cx="190195" cy="19019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473952" y="4295851"/>
            <a:ext cx="15435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Amazon SageMaker</a:t>
            </a:r>
            <a:endParaRPr lang="en-US" sz="1100" dirty="0"/>
          </a:p>
        </p:txBody>
      </p:sp>
      <p:sp>
        <p:nvSpPr>
          <p:cNvPr id="44" name="Text 33"/>
          <p:cNvSpPr txBox="1"/>
          <p:nvPr/>
        </p:nvSpPr>
        <p:spPr>
          <a:xfrm>
            <a:off x="6473952" y="4529023"/>
            <a:ext cx="1543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Risk Models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8613648" y="4276649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770925" y="4410151"/>
            <a:ext cx="142646" cy="190195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9185148" y="4295851"/>
            <a:ext cx="1562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Amazon Transcribe</a:t>
            </a:r>
            <a:endParaRPr lang="en-US" sz="1100" dirty="0"/>
          </a:p>
        </p:txBody>
      </p:sp>
      <p:sp>
        <p:nvSpPr>
          <p:cNvPr id="48" name="Text 36"/>
          <p:cNvSpPr txBox="1"/>
          <p:nvPr/>
        </p:nvSpPr>
        <p:spPr>
          <a:xfrm>
            <a:off x="9185148" y="4529023"/>
            <a:ext cx="1495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Voice-to-Text</a:t>
            </a:r>
            <a:endParaRPr lang="en-US" sz="9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00" b="-100"/>
          <a:stretch/>
        </p:blipFill>
        <p:spPr>
          <a:xfrm>
            <a:off x="6038698" y="5029200"/>
            <a:ext cx="114300" cy="152705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2648102" y="5181905"/>
            <a:ext cx="19202" cy="10479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1" name="Text 38"/>
          <p:cNvSpPr txBox="1"/>
          <p:nvPr/>
        </p:nvSpPr>
        <p:spPr>
          <a:xfrm>
            <a:off x="1205179" y="5591556"/>
            <a:ext cx="12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Storage</a:t>
            </a:r>
            <a:endParaRPr lang="en-US" sz="1200" dirty="0"/>
          </a:p>
        </p:txBody>
      </p:sp>
      <p:sp>
        <p:nvSpPr>
          <p:cNvPr id="52" name="Shape 39"/>
          <p:cNvSpPr/>
          <p:nvPr/>
        </p:nvSpPr>
        <p:spPr>
          <a:xfrm>
            <a:off x="2895905" y="5181905"/>
            <a:ext cx="8343900" cy="1047902"/>
          </a:xfrm>
          <a:prstGeom prst="roundRect">
            <a:avLst>
              <a:gd name="adj" fmla="val 95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53" name="Shape 40"/>
          <p:cNvSpPr/>
          <p:nvPr/>
        </p:nvSpPr>
        <p:spPr>
          <a:xfrm>
            <a:off x="2895905" y="5181905"/>
            <a:ext cx="57607" cy="102870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1"/>
          <p:cNvSpPr/>
          <p:nvPr/>
        </p:nvSpPr>
        <p:spPr>
          <a:xfrm>
            <a:off x="3191256" y="547725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rcRect l="-1648" r="-1648" t="0" b="0"/>
          <a:stretch/>
        </p:blipFill>
        <p:spPr>
          <a:xfrm>
            <a:off x="3333902" y="5609844"/>
            <a:ext cx="171907" cy="190195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3762756" y="5495544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Amazon DynamoDB</a:t>
            </a:r>
            <a:endParaRPr lang="en-US" sz="1100" dirty="0"/>
          </a:p>
        </p:txBody>
      </p:sp>
      <p:sp>
        <p:nvSpPr>
          <p:cNvPr id="57" name="Text 43"/>
          <p:cNvSpPr txBox="1"/>
          <p:nvPr/>
        </p:nvSpPr>
        <p:spPr>
          <a:xfrm>
            <a:off x="3762756" y="5729630"/>
            <a:ext cx="1534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 Database</a:t>
            </a:r>
            <a:endParaRPr lang="en-US" sz="900" dirty="0"/>
          </a:p>
        </p:txBody>
      </p:sp>
      <p:sp>
        <p:nvSpPr>
          <p:cNvPr id="58" name="Shape 44"/>
          <p:cNvSpPr/>
          <p:nvPr/>
        </p:nvSpPr>
        <p:spPr>
          <a:xfrm>
            <a:off x="7258507" y="547725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391095" y="5609844"/>
            <a:ext cx="190195" cy="190195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7830007" y="5495544"/>
            <a:ext cx="952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Amazon S3</a:t>
            </a:r>
            <a:endParaRPr lang="en-US" sz="1100" dirty="0"/>
          </a:p>
        </p:txBody>
      </p:sp>
      <p:sp>
        <p:nvSpPr>
          <p:cNvPr id="61" name="Text 46"/>
          <p:cNvSpPr txBox="1"/>
          <p:nvPr/>
        </p:nvSpPr>
        <p:spPr>
          <a:xfrm>
            <a:off x="7830007" y="5729630"/>
            <a:ext cx="1043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Storage</a:t>
            </a:r>
            <a:endParaRPr lang="en-US" sz="900" dirty="0"/>
          </a:p>
        </p:txBody>
      </p:sp>
      <p:sp>
        <p:nvSpPr>
          <p:cNvPr id="62" name="Shape 4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48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4" name="Text 49"/>
          <p:cNvSpPr txBox="1"/>
          <p:nvPr/>
        </p:nvSpPr>
        <p:spPr>
          <a:xfrm>
            <a:off x="571500" y="166421"/>
            <a:ext cx="355427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Diagram</a:t>
            </a:r>
            <a:endParaRPr lang="en-US" sz="2200" dirty="0"/>
          </a:p>
        </p:txBody>
      </p:sp>
      <p:sp>
        <p:nvSpPr>
          <p:cNvPr id="65" name="Text 50"/>
          <p:cNvSpPr txBox="1"/>
          <p:nvPr/>
        </p:nvSpPr>
        <p:spPr>
          <a:xfrm>
            <a:off x="571500" y="547726"/>
            <a:ext cx="3105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System Design</a:t>
            </a:r>
            <a:endParaRPr lang="en-US" sz="1200" dirty="0"/>
          </a:p>
        </p:txBody>
      </p:sp>
      <p:pic>
        <p:nvPicPr>
          <p:cNvPr id="66" name="Image 13" descr="preencoded.png">    </p:cNvPr>
          <p:cNvPicPr>
            <a:picLocks noChangeAspect="1"/>
          </p:cNvPicPr>
          <p:nvPr/>
        </p:nvPicPr>
        <p:blipFill>
          <a:blip r:embed="rId14">
            <a:alphaModFix amt="80000"/>
          </a:blip>
          <a:srcRect l="0" r="0" t="0" b="0"/>
          <a:stretch/>
        </p:blipFill>
        <p:spPr>
          <a:xfrm>
            <a:off x="10218420" y="395021"/>
            <a:ext cx="152705" cy="152705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10447020" y="357530"/>
            <a:ext cx="1406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 CareLink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-60" r="-60" t="0" b="0"/>
          <a:stretch/>
        </p:blipFill>
        <p:spPr>
          <a:xfrm>
            <a:off x="8496605" y="4000500"/>
            <a:ext cx="4172407" cy="333390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49126" y="6467551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71500" y="181051"/>
            <a:ext cx="31226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571500" y="562356"/>
            <a:ext cx="287304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Tech Stack for Bharat CareLink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rcRect l="-33" r="-33" t="0" b="0"/>
          <a:stretch/>
        </p:blipFill>
        <p:spPr>
          <a:xfrm>
            <a:off x="10199218" y="395021"/>
            <a:ext cx="171907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447020" y="357530"/>
            <a:ext cx="1406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 CareLink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71500" y="1333195"/>
            <a:ext cx="54105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71754" y="1533449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A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890626" y="1666951"/>
            <a:ext cx="219456" cy="1901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9149" y="1533449"/>
            <a:ext cx="29324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9149" y="1762049"/>
            <a:ext cx="33558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AI for summarization and insights.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149" y="2038198"/>
            <a:ext cx="1028700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9149" y="2038198"/>
            <a:ext cx="1028700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Bedrock</a:t>
            </a:r>
            <a:endParaRPr lang="en-US" sz="8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596" y="2038198"/>
            <a:ext cx="1095451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482596" y="2038198"/>
            <a:ext cx="1095451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3.5 Sonnet</a:t>
            </a:r>
            <a:endParaRPr lang="en-US" sz="800" dirty="0"/>
          </a:p>
        </p:txBody>
      </p:sp>
      <p:sp>
        <p:nvSpPr>
          <p:cNvPr id="22" name="Shape 14"/>
          <p:cNvSpPr/>
          <p:nvPr/>
        </p:nvSpPr>
        <p:spPr>
          <a:xfrm>
            <a:off x="6210605" y="1333195"/>
            <a:ext cx="54105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409944" y="1533449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543446" y="1666951"/>
            <a:ext cx="190195" cy="19019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058254" y="1533449"/>
            <a:ext cx="345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7058254" y="1762049"/>
            <a:ext cx="395935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engines for risk scoring and voice processing.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8254" y="2038198"/>
            <a:ext cx="1181405" cy="21945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058254" y="2038198"/>
            <a:ext cx="1181405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SageMaker</a:t>
            </a:r>
            <a:endParaRPr lang="en-US" sz="8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2577" y="2038198"/>
            <a:ext cx="1152144" cy="21945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272577" y="2038198"/>
            <a:ext cx="1153058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Transcribe</a:t>
            </a:r>
            <a:endParaRPr lang="en-US" sz="8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55810" y="2038198"/>
            <a:ext cx="905256" cy="219456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9455810" y="2038198"/>
            <a:ext cx="905256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Translate</a:t>
            </a:r>
            <a:endParaRPr lang="en-US" sz="800" dirty="0"/>
          </a:p>
        </p:txBody>
      </p:sp>
      <p:sp>
        <p:nvSpPr>
          <p:cNvPr id="33" name="Shape 21"/>
          <p:cNvSpPr/>
          <p:nvPr/>
        </p:nvSpPr>
        <p:spPr>
          <a:xfrm>
            <a:off x="571500" y="3124505"/>
            <a:ext cx="54105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2"/>
          <p:cNvSpPr/>
          <p:nvPr/>
        </p:nvSpPr>
        <p:spPr>
          <a:xfrm>
            <a:off x="771754" y="332384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05256" y="3457346"/>
            <a:ext cx="190195" cy="190195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1419149" y="3323844"/>
            <a:ext cx="3534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&amp; Events</a:t>
            </a:r>
            <a:endParaRPr lang="en-US" sz="1200" dirty="0"/>
          </a:p>
        </p:txBody>
      </p:sp>
      <p:sp>
        <p:nvSpPr>
          <p:cNvPr id="37" name="Text 24"/>
          <p:cNvSpPr txBox="1"/>
          <p:nvPr/>
        </p:nvSpPr>
        <p:spPr>
          <a:xfrm>
            <a:off x="1419149" y="3552444"/>
            <a:ext cx="355518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Serverless architecture for scalable logic.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19149" y="3829507"/>
            <a:ext cx="847649" cy="219456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1419149" y="3829507"/>
            <a:ext cx="848563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Lambda</a:t>
            </a:r>
            <a:endParaRPr lang="en-US" sz="80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97887" y="3829507"/>
            <a:ext cx="1248156" cy="219456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2297887" y="3829507"/>
            <a:ext cx="1248156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API Gateway</a:t>
            </a:r>
            <a:endParaRPr lang="en-US" sz="800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80790" y="3829507"/>
            <a:ext cx="1218895" cy="219456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3580790" y="3829507"/>
            <a:ext cx="1219810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EventBridge</a:t>
            </a:r>
            <a:endParaRPr lang="en-US" sz="800" dirty="0"/>
          </a:p>
        </p:txBody>
      </p:sp>
      <p:sp>
        <p:nvSpPr>
          <p:cNvPr id="44" name="Shape 28"/>
          <p:cNvSpPr/>
          <p:nvPr/>
        </p:nvSpPr>
        <p:spPr>
          <a:xfrm>
            <a:off x="6210605" y="3124505"/>
            <a:ext cx="54105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29"/>
          <p:cNvSpPr/>
          <p:nvPr/>
        </p:nvSpPr>
        <p:spPr>
          <a:xfrm>
            <a:off x="6409944" y="332384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rcRect l="-1648" r="-1648" t="0" b="0"/>
          <a:stretch/>
        </p:blipFill>
        <p:spPr>
          <a:xfrm>
            <a:off x="6553505" y="3457346"/>
            <a:ext cx="171907" cy="190195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7058254" y="3323844"/>
            <a:ext cx="3286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Storage</a:t>
            </a:r>
            <a:endParaRPr lang="en-US" sz="1200" dirty="0"/>
          </a:p>
        </p:txBody>
      </p:sp>
      <p:sp>
        <p:nvSpPr>
          <p:cNvPr id="48" name="Text 31"/>
          <p:cNvSpPr txBox="1"/>
          <p:nvPr/>
        </p:nvSpPr>
        <p:spPr>
          <a:xfrm>
            <a:off x="7058254" y="3552444"/>
            <a:ext cx="32863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and scalable data persistence.</a:t>
            </a:r>
            <a:endParaRPr lang="en-US" sz="1000" dirty="0"/>
          </a:p>
        </p:txBody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58254" y="3829507"/>
            <a:ext cx="1628546" cy="219456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7058254" y="3829507"/>
            <a:ext cx="1629461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DynamoDB (NoSQL)</a:t>
            </a:r>
            <a:endParaRPr lang="en-US" sz="800" dirty="0"/>
          </a:p>
        </p:txBody>
      </p:sp>
      <p:pic>
        <p:nvPicPr>
          <p:cNvPr id="5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19718" y="3829507"/>
            <a:ext cx="1476756" cy="219456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>
            <a:off x="8719718" y="3829507"/>
            <a:ext cx="1476756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S3 (Object Store)</a:t>
            </a:r>
            <a:endParaRPr lang="en-US" sz="800" dirty="0"/>
          </a:p>
        </p:txBody>
      </p:sp>
      <p:sp>
        <p:nvSpPr>
          <p:cNvPr id="53" name="Shape 34"/>
          <p:cNvSpPr/>
          <p:nvPr/>
        </p:nvSpPr>
        <p:spPr>
          <a:xfrm>
            <a:off x="571500" y="4914900"/>
            <a:ext cx="54105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35"/>
          <p:cNvSpPr/>
          <p:nvPr/>
        </p:nvSpPr>
        <p:spPr>
          <a:xfrm>
            <a:off x="771754" y="511515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905256" y="5248656"/>
            <a:ext cx="190195" cy="190195"/>
          </a:xfrm>
          <a:prstGeom prst="rect">
            <a:avLst/>
          </a:prstGeom>
        </p:spPr>
      </p:pic>
      <p:sp>
        <p:nvSpPr>
          <p:cNvPr id="56" name="Text 36"/>
          <p:cNvSpPr txBox="1"/>
          <p:nvPr/>
        </p:nvSpPr>
        <p:spPr>
          <a:xfrm>
            <a:off x="1419149" y="5115154"/>
            <a:ext cx="3143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&amp; Identity</a:t>
            </a:r>
            <a:endParaRPr lang="en-US" sz="1200" dirty="0"/>
          </a:p>
        </p:txBody>
      </p:sp>
      <p:sp>
        <p:nvSpPr>
          <p:cNvPr id="57" name="Text 37"/>
          <p:cNvSpPr txBox="1"/>
          <p:nvPr/>
        </p:nvSpPr>
        <p:spPr>
          <a:xfrm>
            <a:off x="1419149" y="5343754"/>
            <a:ext cx="35981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Enterprise-grade protection and access control.</a:t>
            </a:r>
            <a:endParaRPr lang="en-US" sz="1000" dirty="0"/>
          </a:p>
        </p:txBody>
      </p:sp>
      <p:pic>
        <p:nvPicPr>
          <p:cNvPr id="5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19149" y="5619902"/>
            <a:ext cx="1228954" cy="219456"/>
          </a:xfrm>
          <a:prstGeom prst="rect">
            <a:avLst/>
          </a:prstGeom>
        </p:spPr>
      </p:pic>
      <p:sp>
        <p:nvSpPr>
          <p:cNvPr id="59" name="Text 38"/>
          <p:cNvSpPr/>
          <p:nvPr/>
        </p:nvSpPr>
        <p:spPr>
          <a:xfrm>
            <a:off x="1419149" y="5619902"/>
            <a:ext cx="1228954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Cognito (RBAC)</a:t>
            </a:r>
            <a:endParaRPr lang="en-US" sz="800" dirty="0"/>
          </a:p>
        </p:txBody>
      </p:sp>
      <p:pic>
        <p:nvPicPr>
          <p:cNvPr id="6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79192" y="5619902"/>
            <a:ext cx="1324051" cy="219456"/>
          </a:xfrm>
          <a:prstGeom prst="rect">
            <a:avLst/>
          </a:prstGeom>
        </p:spPr>
      </p:pic>
      <p:sp>
        <p:nvSpPr>
          <p:cNvPr id="61" name="Text 39"/>
          <p:cNvSpPr/>
          <p:nvPr/>
        </p:nvSpPr>
        <p:spPr>
          <a:xfrm>
            <a:off x="2679192" y="5619902"/>
            <a:ext cx="1324051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KMS (Encryption)</a:t>
            </a:r>
            <a:endParaRPr lang="en-US" sz="800" dirty="0"/>
          </a:p>
        </p:txBody>
      </p:sp>
      <p:sp>
        <p:nvSpPr>
          <p:cNvPr id="62" name="Shape 40"/>
          <p:cNvSpPr/>
          <p:nvPr/>
        </p:nvSpPr>
        <p:spPr>
          <a:xfrm>
            <a:off x="6210605" y="4914900"/>
            <a:ext cx="54105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41"/>
          <p:cNvSpPr/>
          <p:nvPr/>
        </p:nvSpPr>
        <p:spPr>
          <a:xfrm>
            <a:off x="6409944" y="511515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4" name="Image 20" descr="preencoded.png">    </p:cNvPr>
          <p:cNvPicPr>
            <a:picLocks noChangeAspect="1"/>
          </p:cNvPicPr>
          <p:nvPr/>
        </p:nvPicPr>
        <p:blipFill>
          <a:blip r:embed="rId21"/>
          <a:srcRect l="-1282" r="-1282" t="0" b="0"/>
          <a:stretch/>
        </p:blipFill>
        <p:spPr>
          <a:xfrm>
            <a:off x="6529730" y="5248656"/>
            <a:ext cx="219456" cy="190195"/>
          </a:xfrm>
          <a:prstGeom prst="rect">
            <a:avLst/>
          </a:prstGeom>
        </p:spPr>
      </p:pic>
      <p:sp>
        <p:nvSpPr>
          <p:cNvPr id="65" name="Text 42"/>
          <p:cNvSpPr txBox="1"/>
          <p:nvPr/>
        </p:nvSpPr>
        <p:spPr>
          <a:xfrm>
            <a:off x="7058254" y="5115154"/>
            <a:ext cx="3076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 Application</a:t>
            </a:r>
            <a:endParaRPr lang="en-US" sz="1200" dirty="0"/>
          </a:p>
        </p:txBody>
      </p:sp>
      <p:sp>
        <p:nvSpPr>
          <p:cNvPr id="66" name="Text 43"/>
          <p:cNvSpPr txBox="1"/>
          <p:nvPr/>
        </p:nvSpPr>
        <p:spPr>
          <a:xfrm>
            <a:off x="7058254" y="5343754"/>
            <a:ext cx="35213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interfaces for ASHA workers and doctors.</a:t>
            </a:r>
            <a:endParaRPr lang="en-US" sz="1000" dirty="0"/>
          </a:p>
        </p:txBody>
      </p:sp>
      <p:pic>
        <p:nvPicPr>
          <p:cNvPr id="6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58254" y="5619902"/>
            <a:ext cx="1257300" cy="219456"/>
          </a:xfrm>
          <a:prstGeom prst="rect">
            <a:avLst/>
          </a:prstGeom>
        </p:spPr>
      </p:pic>
      <p:sp>
        <p:nvSpPr>
          <p:cNvPr id="68" name="Text 44"/>
          <p:cNvSpPr/>
          <p:nvPr/>
        </p:nvSpPr>
        <p:spPr>
          <a:xfrm>
            <a:off x="7058254" y="5619902"/>
            <a:ext cx="1257300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Native (Mobile)</a:t>
            </a:r>
            <a:endParaRPr lang="en-US" sz="800" dirty="0"/>
          </a:p>
        </p:txBody>
      </p:sp>
      <p:pic>
        <p:nvPicPr>
          <p:cNvPr id="6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43900" y="5619902"/>
            <a:ext cx="1485900" cy="219456"/>
          </a:xfrm>
          <a:prstGeom prst="rect">
            <a:avLst/>
          </a:prstGeom>
        </p:spPr>
      </p:pic>
      <p:sp>
        <p:nvSpPr>
          <p:cNvPr id="70" name="Text 45"/>
          <p:cNvSpPr/>
          <p:nvPr/>
        </p:nvSpPr>
        <p:spPr>
          <a:xfrm>
            <a:off x="8343900" y="5619902"/>
            <a:ext cx="1485900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 (Web Dashboard)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52805"/>
            <a:ext cx="12191695" cy="6143854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571500" y="1333195"/>
            <a:ext cx="3619195" cy="21909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38805" y="857707"/>
            <a:ext cx="1429207" cy="1429207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5995" y="1638605"/>
            <a:ext cx="3124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75" kern="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Monthly Cost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75995" y="1914754"/>
            <a:ext cx="32004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~$6,600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875995" y="2523744"/>
            <a:ext cx="3124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for </a:t>
            </a:r>
            <a:pPr algn="l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50,000 users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75995" y="2952598"/>
            <a:ext cx="1514246" cy="267005"/>
          </a:xfrm>
          <a:prstGeom prst="roundRect">
            <a:avLst>
              <a:gd name="adj" fmla="val 342465"/>
            </a:avLst>
          </a:prstGeom>
          <a:solidFill>
            <a:srgbClr val="115E59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295" y="3019349"/>
            <a:ext cx="133502" cy="1335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00607" y="2952598"/>
            <a:ext cx="1133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Scale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71500" y="3752698"/>
            <a:ext cx="3619195" cy="2962656"/>
          </a:xfrm>
          <a:prstGeom prst="roundRect">
            <a:avLst>
              <a:gd name="adj" fmla="val 15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09244" y="4525366"/>
            <a:ext cx="31437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244" y="399135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42" b="-842"/>
          <a:stretch/>
        </p:blipFill>
        <p:spPr>
          <a:xfrm>
            <a:off x="905256" y="4095598"/>
            <a:ext cx="190195" cy="17190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04849" y="4048049"/>
            <a:ext cx="16102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FinOps Strategy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078078" y="5101438"/>
            <a:ext cx="29891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Serverless First Approach 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5139842"/>
            <a:ext cx="152705" cy="1527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09244" y="5406847"/>
            <a:ext cx="32196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scales down to zero when idle. You only pay for what you use, ensuring minimal costs during off-peak hours in rural PHCs.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42" b="-842"/>
          <a:stretch/>
        </p:blipFill>
        <p:spPr>
          <a:xfrm>
            <a:off x="4572000" y="1376172"/>
            <a:ext cx="190195" cy="17190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858207" y="1333195"/>
            <a:ext cx="189372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Major Cost Drivers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0" y="1819656"/>
            <a:ext cx="7048195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572000" y="1819656"/>
            <a:ext cx="47549" cy="1071677"/>
          </a:xfrm>
          <a:prstGeom prst="rect">
            <a:avLst/>
          </a:prstGeom>
          <a:solidFill>
            <a:srgbClr val="4F46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809744" y="209763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962449" y="2250338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533949" y="2057400"/>
            <a:ext cx="22786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Amazon SageMaker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5533949" y="2352751"/>
            <a:ext cx="26078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Instances for Training &amp; Inference</a:t>
            </a:r>
            <a:endParaRPr lang="en-US" sz="9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384" b="-384"/>
          <a:stretch/>
        </p:blipFill>
        <p:spPr>
          <a:xfrm>
            <a:off x="5533949" y="2614270"/>
            <a:ext cx="952805" cy="57607"/>
          </a:xfrm>
          <a:prstGeom prst="rect">
            <a:avLst/>
          </a:prstGeom>
        </p:spPr>
      </p:pic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20" b="-420"/>
          <a:stretch/>
        </p:blipFill>
        <p:spPr>
          <a:xfrm>
            <a:off x="5533949" y="2614270"/>
            <a:ext cx="761695" cy="57607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0356494" y="2078431"/>
            <a:ext cx="10305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~$2,500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10745114" y="2478938"/>
            <a:ext cx="64008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month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4572000" y="3100730"/>
            <a:ext cx="7048195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4572000" y="3100730"/>
            <a:ext cx="47549" cy="1071677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4809744" y="3378708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962449" y="3531413"/>
            <a:ext cx="228600" cy="22860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5533949" y="3338474"/>
            <a:ext cx="251642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Amazon SNS</a:t>
            </a:r>
            <a:endParaRPr lang="en-US" sz="1300" dirty="0"/>
          </a:p>
        </p:txBody>
      </p:sp>
      <p:sp>
        <p:nvSpPr>
          <p:cNvPr id="38" name="Text 27"/>
          <p:cNvSpPr txBox="1"/>
          <p:nvPr/>
        </p:nvSpPr>
        <p:spPr>
          <a:xfrm>
            <a:off x="5533949" y="3633826"/>
            <a:ext cx="2879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 Notifications for Alerts &amp; Follow-ups</a:t>
            </a:r>
            <a:endParaRPr lang="en-US" sz="9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384" b="-384"/>
          <a:stretch/>
        </p:blipFill>
        <p:spPr>
          <a:xfrm>
            <a:off x="5533949" y="3895344"/>
            <a:ext cx="952805" cy="57607"/>
          </a:xfrm>
          <a:prstGeom prst="rect">
            <a:avLst/>
          </a:prstGeom>
        </p:spPr>
      </p:pic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384" b="-384"/>
          <a:stretch/>
        </p:blipFill>
        <p:spPr>
          <a:xfrm>
            <a:off x="5533949" y="3895344"/>
            <a:ext cx="476402" cy="57607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0355580" y="3359506"/>
            <a:ext cx="1028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~$1,500</a:t>
            </a:r>
            <a:endParaRPr lang="en-US" sz="1800" dirty="0"/>
          </a:p>
        </p:txBody>
      </p:sp>
      <p:sp>
        <p:nvSpPr>
          <p:cNvPr id="42" name="Text 29"/>
          <p:cNvSpPr txBox="1"/>
          <p:nvPr/>
        </p:nvSpPr>
        <p:spPr>
          <a:xfrm>
            <a:off x="10745114" y="3760013"/>
            <a:ext cx="64008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month</a:t>
            </a:r>
            <a:endParaRPr lang="en-US" sz="900" dirty="0"/>
          </a:p>
        </p:txBody>
      </p:sp>
      <p:sp>
        <p:nvSpPr>
          <p:cNvPr id="43" name="Shape 30"/>
          <p:cNvSpPr/>
          <p:nvPr/>
        </p:nvSpPr>
        <p:spPr>
          <a:xfrm>
            <a:off x="4572000" y="4381805"/>
            <a:ext cx="7048195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31"/>
          <p:cNvSpPr/>
          <p:nvPr/>
        </p:nvSpPr>
        <p:spPr>
          <a:xfrm>
            <a:off x="4572000" y="4381805"/>
            <a:ext cx="47549" cy="1071677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2"/>
          <p:cNvSpPr/>
          <p:nvPr/>
        </p:nvSpPr>
        <p:spPr>
          <a:xfrm>
            <a:off x="4809744" y="4659782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rcRect l="-133" r="-133" t="0" b="0"/>
          <a:stretch/>
        </p:blipFill>
        <p:spPr>
          <a:xfrm>
            <a:off x="4990795" y="4812487"/>
            <a:ext cx="171907" cy="228600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5533949" y="4619549"/>
            <a:ext cx="18790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Amazon Transcribe</a:t>
            </a:r>
            <a:endParaRPr lang="en-US" sz="1300" dirty="0"/>
          </a:p>
        </p:txBody>
      </p:sp>
      <p:sp>
        <p:nvSpPr>
          <p:cNvPr id="48" name="Text 34"/>
          <p:cNvSpPr txBox="1"/>
          <p:nvPr/>
        </p:nvSpPr>
        <p:spPr>
          <a:xfrm>
            <a:off x="5533949" y="4914900"/>
            <a:ext cx="21204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Multi-lingual Voice Processing</a:t>
            </a:r>
            <a:endParaRPr lang="en-US" sz="900" dirty="0"/>
          </a:p>
        </p:txBody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384" b="-384"/>
          <a:stretch/>
        </p:blipFill>
        <p:spPr>
          <a:xfrm>
            <a:off x="5533949" y="5176418"/>
            <a:ext cx="952805" cy="57607"/>
          </a:xfrm>
          <a:prstGeom prst="rect">
            <a:avLst/>
          </a:prstGeom>
        </p:spPr>
      </p:pic>
      <p:sp>
        <p:nvSpPr>
          <p:cNvPr id="50" name="Shape 35"/>
          <p:cNvSpPr/>
          <p:nvPr/>
        </p:nvSpPr>
        <p:spPr>
          <a:xfrm>
            <a:off x="5533949" y="5176418"/>
            <a:ext cx="237744" cy="57607"/>
          </a:xfrm>
          <a:prstGeom prst="roundRect">
            <a:avLst>
              <a:gd name="adj" fmla="val 793654"/>
            </a:avLst>
          </a:prstGeom>
          <a:solidFill>
            <a:srgbClr val="0284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6"/>
          <p:cNvSpPr txBox="1"/>
          <p:nvPr/>
        </p:nvSpPr>
        <p:spPr>
          <a:xfrm>
            <a:off x="10590581" y="4641494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~$750</a:t>
            </a:r>
            <a:endParaRPr lang="en-US" sz="1800" dirty="0"/>
          </a:p>
        </p:txBody>
      </p:sp>
      <p:sp>
        <p:nvSpPr>
          <p:cNvPr id="52" name="Text 37"/>
          <p:cNvSpPr txBox="1"/>
          <p:nvPr/>
        </p:nvSpPr>
        <p:spPr>
          <a:xfrm>
            <a:off x="10745114" y="5041087"/>
            <a:ext cx="64008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month</a:t>
            </a:r>
            <a:endParaRPr lang="en-US" sz="900" dirty="0"/>
          </a:p>
        </p:txBody>
      </p:sp>
      <p:sp>
        <p:nvSpPr>
          <p:cNvPr id="53" name="Shape 38"/>
          <p:cNvSpPr/>
          <p:nvPr/>
        </p:nvSpPr>
        <p:spPr>
          <a:xfrm>
            <a:off x="4572000" y="5662879"/>
            <a:ext cx="7048195" cy="1047902"/>
          </a:xfrm>
          <a:prstGeom prst="roundRect">
            <a:avLst>
              <a:gd name="adj" fmla="val 9519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39"/>
          <p:cNvSpPr/>
          <p:nvPr/>
        </p:nvSpPr>
        <p:spPr>
          <a:xfrm>
            <a:off x="4572000" y="5662879"/>
            <a:ext cx="47549" cy="1047902"/>
          </a:xfrm>
          <a:prstGeom prst="roundRect">
            <a:avLst>
              <a:gd name="adj" fmla="val 209789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4848149" y="5919826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1F5F9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>
            <a:alphaModFix amt="80000"/>
          </a:blip>
          <a:srcRect l="-57" r="-57" t="0" b="0"/>
          <a:stretch/>
        </p:blipFill>
        <p:spPr>
          <a:xfrm>
            <a:off x="5014570" y="6072530"/>
            <a:ext cx="200254" cy="228600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5572354" y="5946343"/>
            <a:ext cx="23280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Other Services</a:t>
            </a:r>
            <a:endParaRPr lang="en-US" sz="1300" dirty="0"/>
          </a:p>
        </p:txBody>
      </p:sp>
      <p:sp>
        <p:nvSpPr>
          <p:cNvPr id="58" name="Text 42"/>
          <p:cNvSpPr txBox="1"/>
          <p:nvPr/>
        </p:nvSpPr>
        <p:spPr>
          <a:xfrm>
            <a:off x="5572354" y="6241694"/>
            <a:ext cx="25420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Lambda, DynamoDB, S3, API Gateway</a:t>
            </a:r>
            <a:endParaRPr lang="en-US" sz="900" dirty="0"/>
          </a:p>
        </p:txBody>
      </p:sp>
      <p:sp>
        <p:nvSpPr>
          <p:cNvPr id="59" name="Text 43"/>
          <p:cNvSpPr txBox="1"/>
          <p:nvPr/>
        </p:nvSpPr>
        <p:spPr>
          <a:xfrm>
            <a:off x="10356494" y="5900623"/>
            <a:ext cx="1028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4748B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~$1,850</a:t>
            </a:r>
            <a:endParaRPr lang="en-US" sz="1800" dirty="0"/>
          </a:p>
        </p:txBody>
      </p:sp>
      <p:sp>
        <p:nvSpPr>
          <p:cNvPr id="60" name="Text 44"/>
          <p:cNvSpPr txBox="1"/>
          <p:nvPr/>
        </p:nvSpPr>
        <p:spPr>
          <a:xfrm>
            <a:off x="10745114" y="6301130"/>
            <a:ext cx="64008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month</a:t>
            </a:r>
            <a:endParaRPr lang="en-US" sz="900" dirty="0"/>
          </a:p>
        </p:txBody>
      </p:sp>
      <p:pic>
        <p:nvPicPr>
          <p:cNvPr id="61" name="Image 14" descr="preencoded.png">    </p:cNvPr>
          <p:cNvPicPr>
            <a:picLocks noChangeAspect="1"/>
          </p:cNvPicPr>
          <p:nvPr/>
        </p:nvPicPr>
        <p:blipFill>
          <a:blip r:embed="rId15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2" name="Text 45"/>
          <p:cNvSpPr txBox="1"/>
          <p:nvPr/>
        </p:nvSpPr>
        <p:spPr>
          <a:xfrm>
            <a:off x="11739982" y="6467551"/>
            <a:ext cx="247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00" dirty="0"/>
          </a:p>
        </p:txBody>
      </p:sp>
      <p:sp>
        <p:nvSpPr>
          <p:cNvPr id="63" name="Shape 46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47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5" name="Text 48"/>
          <p:cNvSpPr txBox="1"/>
          <p:nvPr/>
        </p:nvSpPr>
        <p:spPr>
          <a:xfrm>
            <a:off x="571500" y="166421"/>
            <a:ext cx="52523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Estimated Implementation Cost</a:t>
            </a:r>
            <a:endParaRPr lang="en-US" sz="2200" dirty="0"/>
          </a:p>
        </p:txBody>
      </p:sp>
      <p:sp>
        <p:nvSpPr>
          <p:cNvPr id="66" name="Text 49"/>
          <p:cNvSpPr txBox="1"/>
          <p:nvPr/>
        </p:nvSpPr>
        <p:spPr>
          <a:xfrm>
            <a:off x="571500" y="547726"/>
            <a:ext cx="4810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Production Cost Analysis</a:t>
            </a:r>
            <a:endParaRPr lang="en-US" sz="1200" dirty="0"/>
          </a:p>
        </p:txBody>
      </p:sp>
      <p:pic>
        <p:nvPicPr>
          <p:cNvPr id="67" name="Image 15" descr="preencoded.png">    </p:cNvPr>
          <p:cNvPicPr>
            <a:picLocks noChangeAspect="1"/>
          </p:cNvPicPr>
          <p:nvPr/>
        </p:nvPicPr>
        <p:blipFill>
          <a:blip r:embed="rId16">
            <a:alphaModFix amt="80000"/>
          </a:blip>
          <a:srcRect l="0" r="0" t="0" b="0"/>
          <a:stretch/>
        </p:blipFill>
        <p:spPr>
          <a:xfrm>
            <a:off x="10218420" y="395021"/>
            <a:ext cx="152705" cy="152705"/>
          </a:xfrm>
          <a:prstGeom prst="rect">
            <a:avLst/>
          </a:prstGeom>
        </p:spPr>
      </p:pic>
      <p:sp>
        <p:nvSpPr>
          <p:cNvPr id="68" name="Text 50"/>
          <p:cNvSpPr txBox="1"/>
          <p:nvPr/>
        </p:nvSpPr>
        <p:spPr>
          <a:xfrm>
            <a:off x="10447020" y="357530"/>
            <a:ext cx="1406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 CareLink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287207" y="2286000"/>
            <a:ext cx="2857500" cy="28575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8" b="-398"/>
          <a:stretch/>
        </p:blipFill>
        <p:spPr>
          <a:xfrm>
            <a:off x="1047902" y="1505102"/>
            <a:ext cx="10096805" cy="384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4572000"/>
            <a:ext cx="11048695" cy="1904695"/>
          </a:xfrm>
          <a:prstGeom prst="roundRect">
            <a:avLst>
              <a:gd name="adj" fmla="val 38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61949" y="5143500"/>
            <a:ext cx="19815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Success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Metrics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961949" y="5715000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Targeted Impact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152851" y="5072177"/>
            <a:ext cx="3895344" cy="905256"/>
          </a:xfrm>
          <a:prstGeom prst="roundRect">
            <a:avLst>
              <a:gd name="adj" fmla="val 1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390595" y="5238598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CCFB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881" r="-881" t="0" b="0"/>
          <a:stretch/>
        </p:blipFill>
        <p:spPr>
          <a:xfrm>
            <a:off x="3557930" y="5391302"/>
            <a:ext cx="237744" cy="2670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153205" y="5234026"/>
            <a:ext cx="19449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30%</a:t>
            </a:r>
            <a:endParaRPr lang="en-US" sz="2700" dirty="0"/>
          </a:p>
        </p:txBody>
      </p:sp>
      <p:sp>
        <p:nvSpPr>
          <p:cNvPr id="14" name="Text 9"/>
          <p:cNvSpPr txBox="1"/>
          <p:nvPr/>
        </p:nvSpPr>
        <p:spPr>
          <a:xfrm>
            <a:off x="4153205" y="5615330"/>
            <a:ext cx="214243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Referral Delays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334402" y="5072177"/>
            <a:ext cx="3895344" cy="905256"/>
          </a:xfrm>
          <a:prstGeom prst="roundRect">
            <a:avLst>
              <a:gd name="adj" fmla="val 1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572146" y="5238598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E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24851" y="5391302"/>
            <a:ext cx="267005" cy="2670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34756" y="5234026"/>
            <a:ext cx="24899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11D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</a:t>
            </a:r>
            <a:endParaRPr lang="en-US" sz="2700" dirty="0"/>
          </a:p>
        </p:txBody>
      </p:sp>
      <p:sp>
        <p:nvSpPr>
          <p:cNvPr id="19" name="Text 13"/>
          <p:cNvSpPr txBox="1"/>
          <p:nvPr/>
        </p:nvSpPr>
        <p:spPr>
          <a:xfrm>
            <a:off x="8334756" y="5615330"/>
            <a:ext cx="27432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in High-Risk Classification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739067" y="6467551"/>
            <a:ext cx="247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761695" y="2029054"/>
            <a:ext cx="2857500" cy="1848002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61695" y="2029054"/>
            <a:ext cx="2857500" cy="57607"/>
          </a:xfrm>
          <a:prstGeom prst="roundRect">
            <a:avLst>
              <a:gd name="adj" fmla="val 130912"/>
            </a:avLst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1000354" y="2686507"/>
            <a:ext cx="23810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1000354" y="2314346"/>
            <a:ext cx="132679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1: Pilot</a:t>
            </a:r>
            <a:endParaRPr lang="en-US" sz="13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1605" y="2318918"/>
            <a:ext cx="599846" cy="24780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781605" y="2318918"/>
            <a:ext cx="6007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0–6 Mo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1153058" y="2809951"/>
            <a:ext cx="23244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Deploy in 50 PHCs</a:t>
            </a:r>
            <a:endParaRPr lang="en-US" sz="10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-3205" r="-3205" t="0" b="0"/>
          <a:stretch/>
        </p:blipFill>
        <p:spPr>
          <a:xfrm>
            <a:off x="1000354" y="2809951"/>
            <a:ext cx="75895" cy="9509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172261" y="3086100"/>
            <a:ext cx="2305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Fine-tune Risk Models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00354" y="3086100"/>
            <a:ext cx="95098" cy="9509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162202" y="3362249"/>
            <a:ext cx="23152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Gather ASHA Feedback</a:t>
            </a:r>
            <a:endParaRPr lang="en-US" sz="10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1648" r="-1648" t="0" b="0"/>
          <a:stretch/>
        </p:blipFill>
        <p:spPr>
          <a:xfrm>
            <a:off x="1000354" y="3362249"/>
            <a:ext cx="85954" cy="95098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4667098" y="2029054"/>
            <a:ext cx="2857500" cy="1848002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4667098" y="2029054"/>
            <a:ext cx="2857500" cy="57607"/>
          </a:xfrm>
          <a:prstGeom prst="roundRect">
            <a:avLst>
              <a:gd name="adj" fmla="val 13091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4905756" y="2686507"/>
            <a:ext cx="23810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4905756" y="2314346"/>
            <a:ext cx="14849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2: Scale</a:t>
            </a:r>
            <a:endParaRPr lang="en-US" sz="13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0373" y="2318918"/>
            <a:ext cx="647395" cy="24780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640373" y="2318918"/>
            <a:ext cx="6483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6–18 Mo</a:t>
            </a:r>
            <a:endParaRPr lang="en-US" sz="900" dirty="0"/>
          </a:p>
        </p:txBody>
      </p:sp>
      <p:sp>
        <p:nvSpPr>
          <p:cNvPr id="40" name="Text 28"/>
          <p:cNvSpPr txBox="1"/>
          <p:nvPr/>
        </p:nvSpPr>
        <p:spPr>
          <a:xfrm>
            <a:off x="5106010" y="2809951"/>
            <a:ext cx="2276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 5 Regional Languages</a:t>
            </a:r>
            <a:endParaRPr lang="en-US" sz="10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rcRect l="-1923" r="-1923" t="0" b="0"/>
          <a:stretch/>
        </p:blipFill>
        <p:spPr>
          <a:xfrm>
            <a:off x="4905756" y="2809951"/>
            <a:ext cx="123444" cy="95098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5077663" y="3086100"/>
            <a:ext cx="2305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Integrate State Registries</a:t>
            </a:r>
            <a:endParaRPr lang="en-US" sz="10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905756" y="3086100"/>
            <a:ext cx="95098" cy="95098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5106010" y="3362249"/>
            <a:ext cx="2276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Expand to District Level</a:t>
            </a:r>
            <a:endParaRPr lang="en-US" sz="10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rcRect l="-1923" r="-1923" t="0" b="0"/>
          <a:stretch/>
        </p:blipFill>
        <p:spPr>
          <a:xfrm>
            <a:off x="4905756" y="3362249"/>
            <a:ext cx="123444" cy="95098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8572500" y="2029054"/>
            <a:ext cx="2857500" cy="1848002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7" name="Shape 32"/>
          <p:cNvSpPr/>
          <p:nvPr/>
        </p:nvSpPr>
        <p:spPr>
          <a:xfrm>
            <a:off x="8572500" y="2029054"/>
            <a:ext cx="2857500" cy="57607"/>
          </a:xfrm>
          <a:prstGeom prst="roundRect">
            <a:avLst>
              <a:gd name="adj" fmla="val 130912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8" name="Shape 33"/>
          <p:cNvSpPr/>
          <p:nvPr/>
        </p:nvSpPr>
        <p:spPr>
          <a:xfrm>
            <a:off x="8810244" y="2686507"/>
            <a:ext cx="23810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9" name="Text 34"/>
          <p:cNvSpPr txBox="1"/>
          <p:nvPr/>
        </p:nvSpPr>
        <p:spPr>
          <a:xfrm>
            <a:off x="8810244" y="2314346"/>
            <a:ext cx="18141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3: National</a:t>
            </a:r>
            <a:endParaRPr lang="en-US" sz="1300" dirty="0"/>
          </a:p>
        </p:txBody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98810" y="2318918"/>
            <a:ext cx="599846" cy="247802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10598810" y="2318918"/>
            <a:ext cx="6007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2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18+ Mo</a:t>
            </a:r>
            <a:endParaRPr lang="en-US" sz="900" dirty="0"/>
          </a:p>
        </p:txBody>
      </p:sp>
      <p:sp>
        <p:nvSpPr>
          <p:cNvPr id="52" name="Text 36"/>
          <p:cNvSpPr txBox="1"/>
          <p:nvPr/>
        </p:nvSpPr>
        <p:spPr>
          <a:xfrm>
            <a:off x="8991295" y="2809951"/>
            <a:ext cx="22960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ABHA ID Integration</a:t>
            </a:r>
            <a:endParaRPr lang="en-US" sz="1000" dirty="0"/>
          </a:p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870" b="-870"/>
          <a:stretch/>
        </p:blipFill>
        <p:spPr>
          <a:xfrm>
            <a:off x="8810244" y="2809951"/>
            <a:ext cx="105156" cy="95098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9010498" y="3086100"/>
            <a:ext cx="2276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Federated Learning</a:t>
            </a:r>
            <a:endParaRPr lang="en-US" sz="1000" dirty="0"/>
          </a:p>
        </p:txBody>
      </p:sp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rcRect l="-1923" r="-1923" t="0" b="0"/>
          <a:stretch/>
        </p:blipFill>
        <p:spPr>
          <a:xfrm>
            <a:off x="8810244" y="3086100"/>
            <a:ext cx="123444" cy="95098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8982151" y="3362249"/>
            <a:ext cx="2305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 Data Privacy Compliance</a:t>
            </a:r>
            <a:endParaRPr lang="en-US" sz="1000" dirty="0"/>
          </a:p>
        </p:txBody>
      </p:sp>
      <p:pic>
        <p:nvPicPr>
          <p:cNvPr id="5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8810244" y="3362249"/>
            <a:ext cx="95098" cy="95098"/>
          </a:xfrm>
          <a:prstGeom prst="rect">
            <a:avLst/>
          </a:prstGeom>
        </p:spPr>
      </p:pic>
      <p:pic>
        <p:nvPicPr>
          <p:cNvPr id="58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2095805" y="1647749"/>
            <a:ext cx="190195" cy="190195"/>
          </a:xfrm>
          <a:prstGeom prst="rect">
            <a:avLst/>
          </a:prstGeom>
        </p:spPr>
      </p:pic>
      <p:pic>
        <p:nvPicPr>
          <p:cNvPr id="59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6001207" y="1647749"/>
            <a:ext cx="190195" cy="190195"/>
          </a:xfrm>
          <a:prstGeom prst="rect">
            <a:avLst/>
          </a:prstGeom>
        </p:spPr>
      </p:pic>
      <p:pic>
        <p:nvPicPr>
          <p:cNvPr id="60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9905695" y="1647749"/>
            <a:ext cx="190195" cy="190195"/>
          </a:xfrm>
          <a:prstGeom prst="rect">
            <a:avLst/>
          </a:prstGeom>
        </p:spPr>
      </p:pic>
      <p:sp>
        <p:nvSpPr>
          <p:cNvPr id="61" name="Shape 39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40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3" name="Text 41"/>
          <p:cNvSpPr txBox="1"/>
          <p:nvPr/>
        </p:nvSpPr>
        <p:spPr>
          <a:xfrm>
            <a:off x="571500" y="166421"/>
            <a:ext cx="41897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Roadmap &amp; Future Vision</a:t>
            </a:r>
            <a:endParaRPr lang="en-US" sz="2200" dirty="0"/>
          </a:p>
        </p:txBody>
      </p:sp>
      <p:sp>
        <p:nvSpPr>
          <p:cNvPr id="64" name="Text 42"/>
          <p:cNvSpPr txBox="1"/>
          <p:nvPr/>
        </p:nvSpPr>
        <p:spPr>
          <a:xfrm>
            <a:off x="571500" y="547726"/>
            <a:ext cx="38633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Rollout Strategy &amp; Success Metrics</a:t>
            </a:r>
            <a:endParaRPr lang="en-US" sz="1200" dirty="0"/>
          </a:p>
        </p:txBody>
      </p:sp>
      <p:pic>
        <p:nvPicPr>
          <p:cNvPr id="65" name="Image 20" descr="preencoded.png">    </p:cNvPr>
          <p:cNvPicPr>
            <a:picLocks noChangeAspect="1"/>
          </p:cNvPicPr>
          <p:nvPr/>
        </p:nvPicPr>
        <p:blipFill>
          <a:blip r:embed="rId21">
            <a:alphaModFix amt="80000"/>
          </a:blip>
          <a:srcRect l="-33" r="-33" t="0" b="0"/>
          <a:stretch/>
        </p:blipFill>
        <p:spPr>
          <a:xfrm>
            <a:off x="10199218" y="395021"/>
            <a:ext cx="171907" cy="152705"/>
          </a:xfrm>
          <a:prstGeom prst="rect">
            <a:avLst/>
          </a:prstGeom>
        </p:spPr>
      </p:pic>
      <p:sp>
        <p:nvSpPr>
          <p:cNvPr id="66" name="Text 43"/>
          <p:cNvSpPr txBox="1"/>
          <p:nvPr/>
        </p:nvSpPr>
        <p:spPr>
          <a:xfrm>
            <a:off x="10447020" y="357530"/>
            <a:ext cx="1406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 CareLink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67414" y="6467551"/>
            <a:ext cx="2194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9905" y="1543507"/>
            <a:ext cx="2857500" cy="2857500"/>
          </a:xfrm>
          <a:prstGeom prst="ellipse">
            <a:avLst/>
          </a:prstGeom>
          <a:solidFill>
            <a:srgbClr val="F1F5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0" y="2457907"/>
            <a:ext cx="3810305" cy="3810305"/>
          </a:xfrm>
          <a:prstGeom prst="ellipse">
            <a:avLst/>
          </a:prstGeom>
          <a:solidFill>
            <a:srgbClr val="E0F2FE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20" b="-420"/>
          <a:stretch/>
        </p:blipFill>
        <p:spPr>
          <a:xfrm>
            <a:off x="5715000" y="4894783"/>
            <a:ext cx="761695" cy="384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15207" y="5409590"/>
            <a:ext cx="4762195" cy="1190549"/>
          </a:xfrm>
          <a:prstGeom prst="roundRect">
            <a:avLst>
              <a:gd name="adj" fmla="val 983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4238244" y="5704027"/>
            <a:ext cx="3715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5" kern="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In Touch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3051" y="6066130"/>
            <a:ext cx="190195" cy="1901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31690" y="6018581"/>
            <a:ext cx="283372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[Insert Team Contact Info]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>
            <a:alphaModFix amt="30000"/>
          </a:blip>
          <a:srcRect l="0" r="0" t="-6321" b="-6321"/>
          <a:stretch/>
        </p:blipFill>
        <p:spPr>
          <a:xfrm>
            <a:off x="-190195" y="4448556"/>
            <a:ext cx="2885846" cy="260055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619902" y="1210666"/>
            <a:ext cx="952805" cy="952805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4" b="-24"/>
          <a:stretch/>
        </p:blipFill>
        <p:spPr>
          <a:xfrm>
            <a:off x="5857646" y="1496873"/>
            <a:ext cx="476402" cy="38130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3068726" y="2448763"/>
            <a:ext cx="6056071" cy="1562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"Empowering Bharat's </a:t>
            </a:r>
            <a:pPr algn="ctr" indent="0" marL="0">
              <a:buNone/>
            </a:pPr>
            <a:endParaRPr lang="en-US" sz="3100" dirty="0"/>
          </a:p>
          <a:p>
            <a:pPr algn="ctr"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frontline health workers with </a:t>
            </a:r>
            <a:pPr algn="ctr" indent="0" marL="0">
              <a:buNone/>
            </a:pPr>
            <a:endParaRPr lang="en-US" sz="3100" dirty="0"/>
          </a:p>
          <a:p>
            <a:pPr algn="ctr" indent="0" marL="0">
              <a:buNone/>
            </a:pPr>
            <a:r>
              <a:rPr lang="en-US" sz="31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to save lives</a:t>
            </a:r>
            <a:pPr algn="ctr"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." </a:t>
            </a:r>
            <a:endParaRPr lang="en-US" sz="3100" dirty="0"/>
          </a:p>
        </p:txBody>
      </p:sp>
      <p:sp>
        <p:nvSpPr>
          <p:cNvPr id="18" name="Text 10"/>
          <p:cNvSpPr txBox="1"/>
          <p:nvPr/>
        </p:nvSpPr>
        <p:spPr>
          <a:xfrm>
            <a:off x="3056839" y="4161434"/>
            <a:ext cx="60807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Bridging the gap between rural patients and critical care.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571500" y="28620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6598" y="381305"/>
            <a:ext cx="190195" cy="19019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67105" y="342900"/>
            <a:ext cx="168889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37" kern="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 CareLink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9091879" y="381305"/>
            <a:ext cx="25365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2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AI for Bharat Hackathon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2026-02-15T15:22:57Z</dcterms:created>
  <dcterms:modified xsi:type="dcterms:W3CDTF">2026-02-15T15:22:57Z</dcterms:modified>
</cp:coreProperties>
</file>